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07443B-2328-4B56-94A5-180A7D1EC8A0}"/>
              </a:ext>
            </a:extLst>
          </p:cNvPr>
          <p:cNvSpPr>
            <a:spLocks noGrp="1"/>
          </p:cNvSpPr>
          <p:nvPr/>
        </p:nvSpPr>
        <p:spPr>
          <a:xfrm>
            <a:off x="3700291" y="932665"/>
            <a:ext cx="5905500" cy="6334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US" sz="2400" b="1" dirty="0"/>
              <a:t> Database Management System</a:t>
            </a:r>
            <a:endParaRPr lang="en-US" sz="2400" dirty="0">
              <a:effectLst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F0B47B-E9FC-4D98-B05C-7C02F1476946}"/>
              </a:ext>
            </a:extLst>
          </p:cNvPr>
          <p:cNvSpPr>
            <a:spLocks noGrp="1"/>
          </p:cNvSpPr>
          <p:nvPr/>
        </p:nvSpPr>
        <p:spPr>
          <a:xfrm>
            <a:off x="4094018" y="4118219"/>
            <a:ext cx="590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7365D"/>
                </a:solidFill>
              </a:defRPr>
            </a:pPr>
            <a:r>
              <a:rPr lang="en-US" sz="2250" b="1" dirty="0">
                <a:solidFill>
                  <a:srgbClr val="17365D"/>
                </a:solidFill>
              </a:rPr>
              <a:t>Name: John Bondo</a:t>
            </a:r>
          </a:p>
          <a:p>
            <a:pPr algn="l">
              <a:defRPr sz="2250" b="1">
                <a:solidFill>
                  <a:srgbClr val="17365D"/>
                </a:solidFill>
              </a:defRPr>
            </a:pPr>
            <a:r>
              <a:rPr lang="en-US" sz="2250" b="1" dirty="0">
                <a:solidFill>
                  <a:srgbClr val="17365D"/>
                </a:solidFill>
              </a:rPr>
              <a:t>Reg No. 33365/2025</a:t>
            </a:r>
          </a:p>
          <a:p>
            <a:pPr algn="l">
              <a:defRPr sz="2250" b="1">
                <a:solidFill>
                  <a:srgbClr val="17365D"/>
                </a:solidFill>
              </a:defRPr>
            </a:pPr>
            <a:r>
              <a:rPr lang="en-US" sz="2250" b="1" dirty="0">
                <a:solidFill>
                  <a:srgbClr val="17365D"/>
                </a:solidFill>
              </a:rPr>
              <a:t>Lecturer Name: </a:t>
            </a:r>
            <a:endParaRPr sz="2250" b="1" dirty="0">
              <a:solidFill>
                <a:srgbClr val="17365D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96BA06-FEF9-4D93-AE48-7A308F3BB781}"/>
              </a:ext>
            </a:extLst>
          </p:cNvPr>
          <p:cNvSpPr>
            <a:spLocks noGrp="1"/>
          </p:cNvSpPr>
          <p:nvPr/>
        </p:nvSpPr>
        <p:spPr>
          <a:xfrm>
            <a:off x="3096880" y="543303"/>
            <a:ext cx="6810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en-US" sz="2800" b="1" dirty="0"/>
              <a:t>Village Savings and Loan Association</a:t>
            </a:r>
            <a:endParaRPr lang="en-US" sz="2800" dirty="0"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A76224-B3CA-410A-9E70-DE7527B53003}"/>
              </a:ext>
            </a:extLst>
          </p:cNvPr>
          <p:cNvSpPr>
            <a:spLocks noGrp="1"/>
          </p:cNvSpPr>
          <p:nvPr/>
        </p:nvSpPr>
        <p:spPr>
          <a:xfrm>
            <a:off x="5500688" y="1881187"/>
            <a:ext cx="1001380" cy="1444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7365D"/>
                </a:solidFill>
              </a:defRPr>
            </a:pPr>
            <a:endParaRPr sz="3750" b="1" dirty="0">
              <a:solidFill>
                <a:srgbClr val="17365D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290A64-7C2B-4821-9020-8C12B94CA636}"/>
              </a:ext>
            </a:extLst>
          </p:cNvPr>
          <p:cNvSpPr>
            <a:spLocks noGrp="1"/>
          </p:cNvSpPr>
          <p:nvPr/>
        </p:nvSpPr>
        <p:spPr>
          <a:xfrm>
            <a:off x="3951143" y="133886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64748B"/>
                </a:solidFill>
              </a:defRPr>
            </a:pPr>
            <a:r>
              <a:rPr lang="en-US" sz="1800" b="0" dirty="0">
                <a:solidFill>
                  <a:srgbClr val="64748B"/>
                </a:solidFill>
              </a:rPr>
              <a:t>Oracle Programming Capstone Project</a:t>
            </a:r>
            <a:endParaRPr sz="1800" b="0" dirty="0">
              <a:solidFill>
                <a:srgbClr val="64748B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6E9834-0FE9-48AE-A557-0CC9500285BB}"/>
              </a:ext>
            </a:extLst>
          </p:cNvPr>
          <p:cNvSpPr>
            <a:spLocks noGrp="1"/>
          </p:cNvSpPr>
          <p:nvPr/>
        </p:nvSpPr>
        <p:spPr>
          <a:xfrm>
            <a:off x="7866690" y="3670396"/>
            <a:ext cx="3887006" cy="20516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83ADB4-F2B5-4867-8ED5-E09FA944F13D}"/>
              </a:ext>
            </a:extLst>
          </p:cNvPr>
          <p:cNvSpPr>
            <a:spLocks noGrp="1"/>
          </p:cNvSpPr>
          <p:nvPr/>
        </p:nvSpPr>
        <p:spPr>
          <a:xfrm>
            <a:off x="7866690" y="3670396"/>
            <a:ext cx="4000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2000" b="0" dirty="0">
                <a:solidFill>
                  <a:srgbClr val="1F2937"/>
                </a:solidFill>
              </a:rPr>
              <a:t>- Project: 33365_2025_John_VSLA_DB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2000" b="0" dirty="0">
                <a:solidFill>
                  <a:srgbClr val="1F2937"/>
                </a:solidFill>
              </a:rPr>
              <a:t>- Schema: VSLA_33365_2025_JOHN_DB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2000" b="0" dirty="0">
                <a:solidFill>
                  <a:srgbClr val="1F2937"/>
                </a:solidFill>
              </a:rPr>
              <a:t>- Technology: Oracle SQL and PL/SQL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2000" b="0" dirty="0">
                <a:solidFill>
                  <a:srgbClr val="1F2937"/>
                </a:solidFill>
              </a:rPr>
              <a:t>- Developer: John Bondo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29B376-9108-4122-B426-8B2D42FD469F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1428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01</a:t>
            </a:r>
          </a:p>
        </p:txBody>
      </p:sp>
      <p:pic>
        <p:nvPicPr>
          <p:cNvPr id="16" name="Picture 15" descr="Description: C:\Users\user\Desktop\images.jpeg">
            <a:extLst>
              <a:ext uri="{FF2B5EF4-FFF2-40B4-BE49-F238E27FC236}">
                <a16:creationId xmlns:a16="http://schemas.microsoft.com/office/drawing/2014/main" id="{C13C3BAA-86E8-4C8D-B1EF-B989B79EDDC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120" y="432732"/>
            <a:ext cx="1261745" cy="1171575"/>
          </a:xfrm>
          <a:prstGeom prst="rect">
            <a:avLst/>
          </a:prstGeom>
          <a:noFill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5A2EDBF-5D78-40C1-88F1-C9D4FC758C6E}"/>
              </a:ext>
            </a:extLst>
          </p:cNvPr>
          <p:cNvSpPr>
            <a:spLocks noGrp="1"/>
          </p:cNvSpPr>
          <p:nvPr/>
        </p:nvSpPr>
        <p:spPr>
          <a:xfrm>
            <a:off x="2793404" y="161032"/>
            <a:ext cx="763801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7365D"/>
                </a:solidFill>
              </a:defRPr>
            </a:pPr>
            <a:r>
              <a:rPr lang="en-US" sz="2550" b="1" dirty="0">
                <a:solidFill>
                  <a:srgbClr val="17365D"/>
                </a:solidFill>
              </a:rPr>
              <a:t>University of Lay Adventist  (</a:t>
            </a:r>
            <a:r>
              <a:rPr lang="en-US" sz="2550" b="1" dirty="0" err="1">
                <a:solidFill>
                  <a:srgbClr val="17365D"/>
                </a:solidFill>
              </a:rPr>
              <a:t>Nyansa</a:t>
            </a:r>
            <a:r>
              <a:rPr lang="en-US" sz="2550" b="1" dirty="0">
                <a:solidFill>
                  <a:srgbClr val="17365D"/>
                </a:solidFill>
              </a:rPr>
              <a:t> Campus)</a:t>
            </a:r>
            <a:endParaRPr sz="2550" b="1" dirty="0">
              <a:solidFill>
                <a:srgbClr val="17365D"/>
              </a:solidFill>
            </a:endParaRP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DBB9A1F9-30FB-46C1-A86C-D5A76D721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4300" y="-29575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9416A69B-59F6-4ED4-B7C9-436C6E182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4300" y="-25003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AD6DDF6D-E42A-45F1-85B3-3E633A550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4300" y="-20431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536620A-FFF9-433A-9167-5DEFF6A34C53}"/>
              </a:ext>
            </a:extLst>
          </p:cNvPr>
          <p:cNvSpPr/>
          <p:nvPr/>
        </p:nvSpPr>
        <p:spPr>
          <a:xfrm>
            <a:off x="-345441" y="5808982"/>
            <a:ext cx="12537441" cy="1114425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5D69BFF-6421-4B8B-884D-F87118D0A263}"/>
              </a:ext>
            </a:extLst>
          </p:cNvPr>
          <p:cNvSpPr/>
          <p:nvPr/>
        </p:nvSpPr>
        <p:spPr>
          <a:xfrm rot="5400000">
            <a:off x="-2631027" y="2091107"/>
            <a:ext cx="7080687" cy="2533020"/>
          </a:xfrm>
          <a:prstGeom prst="rect">
            <a:avLst/>
          </a:prstGeom>
          <a:solidFill>
            <a:srgbClr val="00206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7FDC734-3F32-464B-B6D2-8F71B64AEEFA}"/>
              </a:ext>
            </a:extLst>
          </p:cNvPr>
          <p:cNvSpPr/>
          <p:nvPr/>
        </p:nvSpPr>
        <p:spPr>
          <a:xfrm>
            <a:off x="-345440" y="1882828"/>
            <a:ext cx="1695450" cy="142821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B826903-9FF9-4551-82AA-5236AD0B4991}"/>
              </a:ext>
            </a:extLst>
          </p:cNvPr>
          <p:cNvSpPr/>
          <p:nvPr/>
        </p:nvSpPr>
        <p:spPr>
          <a:xfrm>
            <a:off x="-358463" y="2284708"/>
            <a:ext cx="1476375" cy="155805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F06B2EB-F010-46D3-9CC6-0623CCBA66A2}"/>
              </a:ext>
            </a:extLst>
          </p:cNvPr>
          <p:cNvSpPr/>
          <p:nvPr/>
        </p:nvSpPr>
        <p:spPr>
          <a:xfrm>
            <a:off x="-345440" y="1390061"/>
            <a:ext cx="1924050" cy="155805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2CBB36-2259-446F-A9E5-F6E4D116C216}"/>
              </a:ext>
            </a:extLst>
          </p:cNvPr>
          <p:cNvSpPr/>
          <p:nvPr/>
        </p:nvSpPr>
        <p:spPr>
          <a:xfrm>
            <a:off x="-329355" y="2668353"/>
            <a:ext cx="1323975" cy="149313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5869D39-2B51-46CB-91C3-DE775F853914}"/>
              </a:ext>
            </a:extLst>
          </p:cNvPr>
          <p:cNvSpPr/>
          <p:nvPr/>
        </p:nvSpPr>
        <p:spPr>
          <a:xfrm>
            <a:off x="-345440" y="3101452"/>
            <a:ext cx="1181100" cy="155805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A1DCE72-06B2-4A83-8DF5-837C87676540}"/>
              </a:ext>
            </a:extLst>
          </p:cNvPr>
          <p:cNvSpPr/>
          <p:nvPr/>
        </p:nvSpPr>
        <p:spPr>
          <a:xfrm>
            <a:off x="-337959" y="3583232"/>
            <a:ext cx="1009650" cy="142821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67E8EC3-4D66-480D-991B-9FD000418F82}"/>
              </a:ext>
            </a:extLst>
          </p:cNvPr>
          <p:cNvSpPr/>
          <p:nvPr/>
        </p:nvSpPr>
        <p:spPr>
          <a:xfrm>
            <a:off x="-358463" y="953449"/>
            <a:ext cx="2132330" cy="45719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127A0B7-1CBF-47D5-A839-EDFF6CACE0FA}"/>
              </a:ext>
            </a:extLst>
          </p:cNvPr>
          <p:cNvSpPr/>
          <p:nvPr/>
        </p:nvSpPr>
        <p:spPr>
          <a:xfrm>
            <a:off x="-345441" y="5369539"/>
            <a:ext cx="2521267" cy="52681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D52AF51-6982-4353-A4A7-9328000BBD8A}"/>
              </a:ext>
            </a:extLst>
          </p:cNvPr>
          <p:cNvSpPr/>
          <p:nvPr/>
        </p:nvSpPr>
        <p:spPr>
          <a:xfrm>
            <a:off x="-372218" y="5108886"/>
            <a:ext cx="704850" cy="129838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C57581F-297C-41C8-975C-59ED5992DBD0}"/>
              </a:ext>
            </a:extLst>
          </p:cNvPr>
          <p:cNvSpPr/>
          <p:nvPr/>
        </p:nvSpPr>
        <p:spPr>
          <a:xfrm>
            <a:off x="-329355" y="4050935"/>
            <a:ext cx="885825" cy="123346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C967266-3DB9-4CB8-963A-F76DADCFD7C3}"/>
              </a:ext>
            </a:extLst>
          </p:cNvPr>
          <p:cNvSpPr/>
          <p:nvPr/>
        </p:nvSpPr>
        <p:spPr>
          <a:xfrm>
            <a:off x="-329355" y="4530453"/>
            <a:ext cx="771525" cy="162297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0E266731-49D5-48BA-A12C-FCF60406E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7466" y="63323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2" name="Rectangle 36">
            <a:extLst>
              <a:ext uri="{FF2B5EF4-FFF2-40B4-BE49-F238E27FC236}">
                <a16:creationId xmlns:a16="http://schemas.microsoft.com/office/drawing/2014/main" id="{8EA66A8F-69B7-4898-B388-25319FB1E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7466" y="109043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94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68AA116-B043-4208-9A66-199293C3B19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F75B5"/>
                </a:solidFill>
              </a:defRPr>
            </a:pPr>
            <a:r>
              <a:rPr sz="900" b="1">
                <a:solidFill>
                  <a:srgbClr val="2F75B5"/>
                </a:solidFill>
              </a:rPr>
              <a:t>VSLA ORACLE DATABASE CAPSTONE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E8C68D-BA00-441C-9A98-BC7ECF9AE32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Phase I: Problem Statement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53D32D-DE59-42D6-AEB4-94A9D24FC14B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668000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74235F-1E10-49B6-A104-531A738FFEC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33365_2025_John_VSLA_DB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6A1D43-2A2E-4B90-97F7-F8DDC4E62CC0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016884-C59F-4E84-BA3C-E11FAEBB399C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Objective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A5F26E-AD7F-4AAB-93D4-88C8828CDF77}"/>
              </a:ext>
            </a:extLst>
          </p:cNvPr>
          <p:cNvSpPr>
            <a:spLocks noGrp="1"/>
          </p:cNvSpPr>
          <p:nvPr/>
        </p:nvSpPr>
        <p:spPr>
          <a:xfrm>
            <a:off x="704850" y="2019300"/>
            <a:ext cx="42386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Define the real-world problem, users, objectives, and expected benefits of the VSLA database project.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4317885-72AD-4828-9A45-8A4CFCB91C05}"/>
              </a:ext>
            </a:extLst>
          </p:cNvPr>
          <p:cNvSpPr>
            <a:spLocks noGrp="1"/>
          </p:cNvSpPr>
          <p:nvPr/>
        </p:nvSpPr>
        <p:spPr>
          <a:xfrm>
            <a:off x="5619750" y="1676400"/>
            <a:ext cx="5334000" cy="3790950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8D7C81-6866-441A-AE0E-123B377186F1}"/>
              </a:ext>
            </a:extLst>
          </p:cNvPr>
          <p:cNvSpPr>
            <a:spLocks noGrp="1"/>
          </p:cNvSpPr>
          <p:nvPr/>
        </p:nvSpPr>
        <p:spPr>
          <a:xfrm>
            <a:off x="5905500" y="19621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Foundation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4B78DD0-394E-4792-AB64-0ADFAD02A9FE}"/>
              </a:ext>
            </a:extLst>
          </p:cNvPr>
          <p:cNvSpPr>
            <a:spLocks noGrp="1"/>
          </p:cNvSpPr>
          <p:nvPr/>
        </p:nvSpPr>
        <p:spPr>
          <a:xfrm>
            <a:off x="6191250" y="259080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EAF3F8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BF71F1-454D-4A10-947D-792096F974FE}"/>
              </a:ext>
            </a:extLst>
          </p:cNvPr>
          <p:cNvSpPr>
            <a:spLocks noGrp="1"/>
          </p:cNvSpPr>
          <p:nvPr/>
        </p:nvSpPr>
        <p:spPr>
          <a:xfrm>
            <a:off x="6381750" y="26860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Manual records create errors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9AF551B-27D7-4D5B-90D8-800A4EDA1BF7}"/>
              </a:ext>
            </a:extLst>
          </p:cNvPr>
          <p:cNvSpPr>
            <a:spLocks noGrp="1"/>
          </p:cNvSpPr>
          <p:nvPr/>
        </p:nvSpPr>
        <p:spPr>
          <a:xfrm>
            <a:off x="6191250" y="318135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F7FBFF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8AF30E-C254-480C-BE43-1FDA47CDD227}"/>
              </a:ext>
            </a:extLst>
          </p:cNvPr>
          <p:cNvSpPr>
            <a:spLocks noGrp="1"/>
          </p:cNvSpPr>
          <p:nvPr/>
        </p:nvSpPr>
        <p:spPr>
          <a:xfrm>
            <a:off x="6381750" y="327660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Oracle database improves accuracy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B5BA4B4-0285-4940-8EF7-B1EE947E28BF}"/>
              </a:ext>
            </a:extLst>
          </p:cNvPr>
          <p:cNvSpPr>
            <a:spLocks noGrp="1"/>
          </p:cNvSpPr>
          <p:nvPr/>
        </p:nvSpPr>
        <p:spPr>
          <a:xfrm>
            <a:off x="6191250" y="377190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EAF3F8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2D955E-9E59-40D5-8CFA-AC683CA055D5}"/>
              </a:ext>
            </a:extLst>
          </p:cNvPr>
          <p:cNvSpPr>
            <a:spLocks noGrp="1"/>
          </p:cNvSpPr>
          <p:nvPr/>
        </p:nvSpPr>
        <p:spPr>
          <a:xfrm>
            <a:off x="6381750" y="38671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Clear scope for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51556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B951A1B-2A4E-4746-96A9-1F3DEFDBD5D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F75B5"/>
                </a:solidFill>
              </a:defRPr>
            </a:pPr>
            <a:r>
              <a:rPr sz="900" b="1">
                <a:solidFill>
                  <a:srgbClr val="2F75B5"/>
                </a:solidFill>
              </a:rPr>
              <a:t>VSLA ORACLE DATABASE CAPSTONE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3377A9-0201-4C9B-9648-A101E5FC3EF6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Phase II: Business Process Modeling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D302EE-B544-4B23-BB4E-112F32B668BE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668000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937C3E-6748-4111-9EA2-62938874C1C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33365_2025_John_VSLA_DB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98C334-7C65-4A5C-BB68-55EB5654A172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5CABCC-A00B-4CC1-B6C4-8A75902454E1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Objective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14C0F5-0FC4-4F8C-863B-83A9DE2C400D}"/>
              </a:ext>
            </a:extLst>
          </p:cNvPr>
          <p:cNvSpPr>
            <a:spLocks noGrp="1"/>
          </p:cNvSpPr>
          <p:nvPr/>
        </p:nvSpPr>
        <p:spPr>
          <a:xfrm>
            <a:off x="704850" y="2019300"/>
            <a:ext cx="42386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Model the VSLA workflow from start to end using BPMN swimlanes and explain how actors interact with the system.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26EF2C-6C43-4E39-84F7-85595FCED62E}"/>
              </a:ext>
            </a:extLst>
          </p:cNvPr>
          <p:cNvSpPr>
            <a:spLocks noGrp="1"/>
          </p:cNvSpPr>
          <p:nvPr/>
        </p:nvSpPr>
        <p:spPr>
          <a:xfrm>
            <a:off x="704850" y="34290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Key Deliverables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394924-03BA-484D-9CA6-9FE5095ED57D}"/>
              </a:ext>
            </a:extLst>
          </p:cNvPr>
          <p:cNvSpPr>
            <a:spLocks noGrp="1"/>
          </p:cNvSpPr>
          <p:nvPr/>
        </p:nvSpPr>
        <p:spPr>
          <a:xfrm>
            <a:off x="704850" y="3829050"/>
            <a:ext cx="4238625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System scope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Actors and processes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BPMN swimlane diagram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One-page explanation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346D4B2-4FE9-4150-9E7F-D76616F7A527}"/>
              </a:ext>
            </a:extLst>
          </p:cNvPr>
          <p:cNvSpPr>
            <a:spLocks noGrp="1"/>
          </p:cNvSpPr>
          <p:nvPr/>
        </p:nvSpPr>
        <p:spPr>
          <a:xfrm>
            <a:off x="5619750" y="1676400"/>
            <a:ext cx="5334000" cy="3790950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27B389-1DD8-4B19-A10D-C7D16BF3BC23}"/>
              </a:ext>
            </a:extLst>
          </p:cNvPr>
          <p:cNvSpPr>
            <a:spLocks noGrp="1"/>
          </p:cNvSpPr>
          <p:nvPr/>
        </p:nvSpPr>
        <p:spPr>
          <a:xfrm>
            <a:off x="5905500" y="19621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BPMN Placeholder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4F84F0D-83FC-45BB-88CD-74BFFA9FA50D}"/>
              </a:ext>
            </a:extLst>
          </p:cNvPr>
          <p:cNvSpPr>
            <a:spLocks noGrp="1"/>
          </p:cNvSpPr>
          <p:nvPr/>
        </p:nvSpPr>
        <p:spPr>
          <a:xfrm>
            <a:off x="6191250" y="259080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EAF3F8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66D319-D6D4-414A-8EDD-4A84F54B3D4D}"/>
              </a:ext>
            </a:extLst>
          </p:cNvPr>
          <p:cNvSpPr>
            <a:spLocks noGrp="1"/>
          </p:cNvSpPr>
          <p:nvPr/>
        </p:nvSpPr>
        <p:spPr>
          <a:xfrm>
            <a:off x="6381750" y="26860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Member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FC4DFDC-D794-4BE7-A9AA-A15EADE696CB}"/>
              </a:ext>
            </a:extLst>
          </p:cNvPr>
          <p:cNvSpPr>
            <a:spLocks noGrp="1"/>
          </p:cNvSpPr>
          <p:nvPr/>
        </p:nvSpPr>
        <p:spPr>
          <a:xfrm>
            <a:off x="6191250" y="318135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F7FBFF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4BEB75-98E9-43E2-845A-297B7D309EEE}"/>
              </a:ext>
            </a:extLst>
          </p:cNvPr>
          <p:cNvSpPr>
            <a:spLocks noGrp="1"/>
          </p:cNvSpPr>
          <p:nvPr/>
        </p:nvSpPr>
        <p:spPr>
          <a:xfrm>
            <a:off x="6381750" y="327660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Group Leader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2B0BA55-2178-4ABB-9B2B-394590D23212}"/>
              </a:ext>
            </a:extLst>
          </p:cNvPr>
          <p:cNvSpPr>
            <a:spLocks noGrp="1"/>
          </p:cNvSpPr>
          <p:nvPr/>
        </p:nvSpPr>
        <p:spPr>
          <a:xfrm>
            <a:off x="6191250" y="377190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EAF3F8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F0D661-02CA-4EFA-BF89-225F3301FCAC}"/>
              </a:ext>
            </a:extLst>
          </p:cNvPr>
          <p:cNvSpPr>
            <a:spLocks noGrp="1"/>
          </p:cNvSpPr>
          <p:nvPr/>
        </p:nvSpPr>
        <p:spPr>
          <a:xfrm>
            <a:off x="6381750" y="38671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Treasurer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1CB2588-BEE2-4000-9E33-66D18488C6E7}"/>
              </a:ext>
            </a:extLst>
          </p:cNvPr>
          <p:cNvSpPr>
            <a:spLocks noGrp="1"/>
          </p:cNvSpPr>
          <p:nvPr/>
        </p:nvSpPr>
        <p:spPr>
          <a:xfrm>
            <a:off x="6191250" y="436245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F7FBFF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2DB2F6-AA44-441E-B8D5-94EE69550315}"/>
              </a:ext>
            </a:extLst>
          </p:cNvPr>
          <p:cNvSpPr>
            <a:spLocks noGrp="1"/>
          </p:cNvSpPr>
          <p:nvPr/>
        </p:nvSpPr>
        <p:spPr>
          <a:xfrm>
            <a:off x="6381750" y="445770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Oracle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448830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791B538-3921-459C-B473-53673C74108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F75B5"/>
                </a:solidFill>
              </a:defRPr>
            </a:pPr>
            <a:r>
              <a:rPr sz="900" b="1">
                <a:solidFill>
                  <a:srgbClr val="2F75B5"/>
                </a:solidFill>
              </a:rPr>
              <a:t>VSLA ORACLE DATABASE CAPSTONE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5BC4EE-74C4-4D73-9FE8-A87D79E9C511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Phase III: Logical Database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21CF5A-41E2-4A17-9139-9B2F9AC3A342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668000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094AC7-32FC-4713-9B90-2486FE6B085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33365_2025_John_VSLA_DB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828D2A-6B1B-432B-904D-214E7929769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F67500-C817-45C1-84C5-1E28C5E7532E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Objective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C3F253-7EBB-445F-BB46-CDE05ABC5987}"/>
              </a:ext>
            </a:extLst>
          </p:cNvPr>
          <p:cNvSpPr>
            <a:spLocks noGrp="1"/>
          </p:cNvSpPr>
          <p:nvPr/>
        </p:nvSpPr>
        <p:spPr>
          <a:xfrm>
            <a:off x="704850" y="2019300"/>
            <a:ext cx="42386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Transform the business process into a normalized relational database design with entities, keys, and relationships.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3FDBC0-116E-4D8F-BAF1-780F86BC31FD}"/>
              </a:ext>
            </a:extLst>
          </p:cNvPr>
          <p:cNvSpPr>
            <a:spLocks noGrp="1"/>
          </p:cNvSpPr>
          <p:nvPr/>
        </p:nvSpPr>
        <p:spPr>
          <a:xfrm>
            <a:off x="704850" y="34290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Key Deliverables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3E0A71-C8DC-4A43-A776-CEA26BBD4621}"/>
              </a:ext>
            </a:extLst>
          </p:cNvPr>
          <p:cNvSpPr>
            <a:spLocks noGrp="1"/>
          </p:cNvSpPr>
          <p:nvPr/>
        </p:nvSpPr>
        <p:spPr>
          <a:xfrm>
            <a:off x="704850" y="3829050"/>
            <a:ext cx="4238625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- 12 database tables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Primary and foreign keys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Entity relationships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Normalization to 3NF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ER diagram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9A516A-D85F-4EAB-A237-7CF8EACAAAC3}"/>
              </a:ext>
            </a:extLst>
          </p:cNvPr>
          <p:cNvSpPr>
            <a:spLocks noGrp="1"/>
          </p:cNvSpPr>
          <p:nvPr/>
        </p:nvSpPr>
        <p:spPr>
          <a:xfrm>
            <a:off x="5619750" y="1676400"/>
            <a:ext cx="5334000" cy="3790950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ECE9B7-122C-4FB3-8942-5E4DFF4CDE4A}"/>
              </a:ext>
            </a:extLst>
          </p:cNvPr>
          <p:cNvSpPr>
            <a:spLocks noGrp="1"/>
          </p:cNvSpPr>
          <p:nvPr/>
        </p:nvSpPr>
        <p:spPr>
          <a:xfrm>
            <a:off x="5905500" y="19621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ERD Placeholder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DD3EBAF-8BB9-4296-88B8-BDDF4154AF8B}"/>
              </a:ext>
            </a:extLst>
          </p:cNvPr>
          <p:cNvSpPr>
            <a:spLocks noGrp="1"/>
          </p:cNvSpPr>
          <p:nvPr/>
        </p:nvSpPr>
        <p:spPr>
          <a:xfrm>
            <a:off x="6191250" y="259080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EAF3F8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44339E-38BD-4077-920E-65E8BF4A550F}"/>
              </a:ext>
            </a:extLst>
          </p:cNvPr>
          <p:cNvSpPr>
            <a:spLocks noGrp="1"/>
          </p:cNvSpPr>
          <p:nvPr/>
        </p:nvSpPr>
        <p:spPr>
          <a:xfrm>
            <a:off x="6381750" y="26860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Savings Groups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F5C6C66-1C3B-40B4-B315-4C4A751ABC1F}"/>
              </a:ext>
            </a:extLst>
          </p:cNvPr>
          <p:cNvSpPr>
            <a:spLocks noGrp="1"/>
          </p:cNvSpPr>
          <p:nvPr/>
        </p:nvSpPr>
        <p:spPr>
          <a:xfrm>
            <a:off x="6191250" y="318135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F7FBFF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DD68B8-BA70-4928-8246-0C70C2BBB77C}"/>
              </a:ext>
            </a:extLst>
          </p:cNvPr>
          <p:cNvSpPr>
            <a:spLocks noGrp="1"/>
          </p:cNvSpPr>
          <p:nvPr/>
        </p:nvSpPr>
        <p:spPr>
          <a:xfrm>
            <a:off x="6381750" y="327660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Members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DF4CC35-780E-45BF-8F4D-47C1DC0B2194}"/>
              </a:ext>
            </a:extLst>
          </p:cNvPr>
          <p:cNvSpPr>
            <a:spLocks noGrp="1"/>
          </p:cNvSpPr>
          <p:nvPr/>
        </p:nvSpPr>
        <p:spPr>
          <a:xfrm>
            <a:off x="6191250" y="377190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EAF3F8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49C772-CFF4-4EF7-ADE7-96C31212E3CE}"/>
              </a:ext>
            </a:extLst>
          </p:cNvPr>
          <p:cNvSpPr>
            <a:spLocks noGrp="1"/>
          </p:cNvSpPr>
          <p:nvPr/>
        </p:nvSpPr>
        <p:spPr>
          <a:xfrm>
            <a:off x="6381750" y="38671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Loans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501B8A1-AA6F-49C4-9BEB-B90FE2AB7516}"/>
              </a:ext>
            </a:extLst>
          </p:cNvPr>
          <p:cNvSpPr>
            <a:spLocks noGrp="1"/>
          </p:cNvSpPr>
          <p:nvPr/>
        </p:nvSpPr>
        <p:spPr>
          <a:xfrm>
            <a:off x="6191250" y="436245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F7FBFF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FB8FF1-B595-4151-BE66-CE30E51EA6A8}"/>
              </a:ext>
            </a:extLst>
          </p:cNvPr>
          <p:cNvSpPr>
            <a:spLocks noGrp="1"/>
          </p:cNvSpPr>
          <p:nvPr/>
        </p:nvSpPr>
        <p:spPr>
          <a:xfrm>
            <a:off x="6381750" y="445770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Repayments</a:t>
            </a:r>
          </a:p>
        </p:txBody>
      </p:sp>
    </p:spTree>
    <p:extLst>
      <p:ext uri="{BB962C8B-B14F-4D97-AF65-F5344CB8AC3E}">
        <p14:creationId xmlns:p14="http://schemas.microsoft.com/office/powerpoint/2010/main" val="1868199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09BDD07-B4CF-43F5-9512-A38D8569C07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F75B5"/>
                </a:solidFill>
              </a:defRPr>
            </a:pPr>
            <a:r>
              <a:rPr sz="900" b="1">
                <a:solidFill>
                  <a:srgbClr val="2F75B5"/>
                </a:solidFill>
              </a:rPr>
              <a:t>VSLA ORACLE DATABASE CAPSTONE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B8D446-E627-485B-8126-054C118C08E9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Phase IV: Database Creation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D6F47F-BBD9-4301-9765-711916E0793A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668000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3375DF-48F2-4462-AAEB-949EDAB16504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33365_2025_John_VSLA_DB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5FD2D8-2087-4A2C-8FB2-BC7E396A6426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8D989E-B2C2-49CD-AA1C-B12126C9B4A1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Objective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1685DA-80F7-4B76-AFED-B23CECA41CD3}"/>
              </a:ext>
            </a:extLst>
          </p:cNvPr>
          <p:cNvSpPr>
            <a:spLocks noGrp="1"/>
          </p:cNvSpPr>
          <p:nvPr/>
        </p:nvSpPr>
        <p:spPr>
          <a:xfrm>
            <a:off x="704850" y="2019300"/>
            <a:ext cx="42386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Create the Oracle schema and prepare the database environment for the VSLA implementation.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EA7C4B-0500-48DB-AFFD-8A033C91057E}"/>
              </a:ext>
            </a:extLst>
          </p:cNvPr>
          <p:cNvSpPr>
            <a:spLocks noGrp="1"/>
          </p:cNvSpPr>
          <p:nvPr/>
        </p:nvSpPr>
        <p:spPr>
          <a:xfrm>
            <a:off x="704850" y="34290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Key Deliverables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791C25-7185-42A8-B1FB-A6D667626582}"/>
              </a:ext>
            </a:extLst>
          </p:cNvPr>
          <p:cNvSpPr>
            <a:spLocks noGrp="1"/>
          </p:cNvSpPr>
          <p:nvPr/>
        </p:nvSpPr>
        <p:spPr>
          <a:xfrm>
            <a:off x="704850" y="3829050"/>
            <a:ext cx="4238625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Project user/schema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Privileges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Oracle SQL Developer connection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Execution order established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98026C-AA15-4F6C-8E20-1E2A296539CC}"/>
              </a:ext>
            </a:extLst>
          </p:cNvPr>
          <p:cNvSpPr>
            <a:spLocks noGrp="1"/>
          </p:cNvSpPr>
          <p:nvPr/>
        </p:nvSpPr>
        <p:spPr>
          <a:xfrm>
            <a:off x="5619750" y="1676400"/>
            <a:ext cx="5334000" cy="3790950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644C3C-F7A3-425D-ACC4-425FB6A8EFE0}"/>
              </a:ext>
            </a:extLst>
          </p:cNvPr>
          <p:cNvSpPr>
            <a:spLocks noGrp="1"/>
          </p:cNvSpPr>
          <p:nvPr/>
        </p:nvSpPr>
        <p:spPr>
          <a:xfrm>
            <a:off x="5905500" y="19621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Oracle Setup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BE3BD31-9303-40DD-8B88-75C7392C5AEB}"/>
              </a:ext>
            </a:extLst>
          </p:cNvPr>
          <p:cNvSpPr>
            <a:spLocks noGrp="1"/>
          </p:cNvSpPr>
          <p:nvPr/>
        </p:nvSpPr>
        <p:spPr>
          <a:xfrm>
            <a:off x="6191250" y="259080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EAF3F8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559B9B-17F3-4D72-AA3C-CFB3990B85FB}"/>
              </a:ext>
            </a:extLst>
          </p:cNvPr>
          <p:cNvSpPr>
            <a:spLocks noGrp="1"/>
          </p:cNvSpPr>
          <p:nvPr/>
        </p:nvSpPr>
        <p:spPr>
          <a:xfrm>
            <a:off x="6381750" y="26860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Schema: VSLA_33365_2025_JOHN_DB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69A47A6-75D8-4669-B729-722F38EC2E77}"/>
              </a:ext>
            </a:extLst>
          </p:cNvPr>
          <p:cNvSpPr>
            <a:spLocks noGrp="1"/>
          </p:cNvSpPr>
          <p:nvPr/>
        </p:nvSpPr>
        <p:spPr>
          <a:xfrm>
            <a:off x="6191250" y="318135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F7FBFF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F7CE75-514A-4EF1-954A-6A5A89713A70}"/>
              </a:ext>
            </a:extLst>
          </p:cNvPr>
          <p:cNvSpPr>
            <a:spLocks noGrp="1"/>
          </p:cNvSpPr>
          <p:nvPr/>
        </p:nvSpPr>
        <p:spPr>
          <a:xfrm>
            <a:off x="6381750" y="327660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Service: XEPDB1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F93E15E-0355-4C15-8B33-05A2EDE62EFF}"/>
              </a:ext>
            </a:extLst>
          </p:cNvPr>
          <p:cNvSpPr>
            <a:spLocks noGrp="1"/>
          </p:cNvSpPr>
          <p:nvPr/>
        </p:nvSpPr>
        <p:spPr>
          <a:xfrm>
            <a:off x="6191250" y="377190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EAF3F8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87C960-CF2E-4691-A668-2EF4125C1EF5}"/>
              </a:ext>
            </a:extLst>
          </p:cNvPr>
          <p:cNvSpPr>
            <a:spLocks noGrp="1"/>
          </p:cNvSpPr>
          <p:nvPr/>
        </p:nvSpPr>
        <p:spPr>
          <a:xfrm>
            <a:off x="6381750" y="38671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User verified</a:t>
            </a:r>
          </a:p>
        </p:txBody>
      </p:sp>
    </p:spTree>
    <p:extLst>
      <p:ext uri="{BB962C8B-B14F-4D97-AF65-F5344CB8AC3E}">
        <p14:creationId xmlns:p14="http://schemas.microsoft.com/office/powerpoint/2010/main" val="1124148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EE0D7AD-C73F-495D-8A1C-1FC68D426C1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F75B5"/>
                </a:solidFill>
              </a:defRPr>
            </a:pPr>
            <a:r>
              <a:rPr sz="900" b="1">
                <a:solidFill>
                  <a:srgbClr val="2F75B5"/>
                </a:solidFill>
              </a:rPr>
              <a:t>VSLA ORACLE DATABASE CAPSTONE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C14831-CD6E-4F60-8F21-B8BD6E78122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Phase V: Table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AC262A-74BF-47C6-9498-A72511154A7D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668000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AC91C4-F343-4B64-9817-45D1F70AF36F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33365_2025_John_VSLA_DB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40CDA8-98A7-4F22-BED8-40945353F530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F5140D-6B44-49F4-84D9-70B4C978A3D2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Objective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64DB6A-3816-4236-894A-62EB9BA76574}"/>
              </a:ext>
            </a:extLst>
          </p:cNvPr>
          <p:cNvSpPr>
            <a:spLocks noGrp="1"/>
          </p:cNvSpPr>
          <p:nvPr/>
        </p:nvSpPr>
        <p:spPr>
          <a:xfrm>
            <a:off x="704850" y="2019300"/>
            <a:ext cx="42386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Implement the relational schema using SQL tables, constraints, identity columns, and sample data.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8507D5-1380-43BE-8813-8C12EA9ADE71}"/>
              </a:ext>
            </a:extLst>
          </p:cNvPr>
          <p:cNvSpPr>
            <a:spLocks noGrp="1"/>
          </p:cNvSpPr>
          <p:nvPr/>
        </p:nvSpPr>
        <p:spPr>
          <a:xfrm>
            <a:off x="704850" y="34290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Key Deliverables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ECD175-9578-43A5-A949-0719CED2BE4F}"/>
              </a:ext>
            </a:extLst>
          </p:cNvPr>
          <p:cNvSpPr>
            <a:spLocks noGrp="1"/>
          </p:cNvSpPr>
          <p:nvPr/>
        </p:nvSpPr>
        <p:spPr>
          <a:xfrm>
            <a:off x="704850" y="3829050"/>
            <a:ext cx="4238625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Core tables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Financial tables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Control tables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Sample records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Data integrity rules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A3FA59-F355-4239-A8DB-CF658988CD06}"/>
              </a:ext>
            </a:extLst>
          </p:cNvPr>
          <p:cNvSpPr>
            <a:spLocks noGrp="1"/>
          </p:cNvSpPr>
          <p:nvPr/>
        </p:nvSpPr>
        <p:spPr>
          <a:xfrm>
            <a:off x="5619750" y="1676400"/>
            <a:ext cx="5334000" cy="3790950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3842AF-8DCB-426B-95FA-E24DBBEC5C83}"/>
              </a:ext>
            </a:extLst>
          </p:cNvPr>
          <p:cNvSpPr>
            <a:spLocks noGrp="1"/>
          </p:cNvSpPr>
          <p:nvPr/>
        </p:nvSpPr>
        <p:spPr>
          <a:xfrm>
            <a:off x="5905500" y="19621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Implementation Evidence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46EA1E2-9B69-41A7-8092-25126D8ED269}"/>
              </a:ext>
            </a:extLst>
          </p:cNvPr>
          <p:cNvSpPr>
            <a:spLocks noGrp="1"/>
          </p:cNvSpPr>
          <p:nvPr/>
        </p:nvSpPr>
        <p:spPr>
          <a:xfrm>
            <a:off x="6191250" y="259080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EAF3F8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2414E6-D528-4647-8A8A-C9E75D39B423}"/>
              </a:ext>
            </a:extLst>
          </p:cNvPr>
          <p:cNvSpPr>
            <a:spLocks noGrp="1"/>
          </p:cNvSpPr>
          <p:nvPr/>
        </p:nvSpPr>
        <p:spPr>
          <a:xfrm>
            <a:off x="6381750" y="26860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12 tables created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2E7836B-DAD5-4234-94BA-350A1201DC56}"/>
              </a:ext>
            </a:extLst>
          </p:cNvPr>
          <p:cNvSpPr>
            <a:spLocks noGrp="1"/>
          </p:cNvSpPr>
          <p:nvPr/>
        </p:nvSpPr>
        <p:spPr>
          <a:xfrm>
            <a:off x="6191250" y="318135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F7FBFF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D83FFB-C2C0-4EAE-AF9F-9B3D09BDEBA2}"/>
              </a:ext>
            </a:extLst>
          </p:cNvPr>
          <p:cNvSpPr>
            <a:spLocks noGrp="1"/>
          </p:cNvSpPr>
          <p:nvPr/>
        </p:nvSpPr>
        <p:spPr>
          <a:xfrm>
            <a:off x="6381750" y="327660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Sample data inserted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46B5174-4633-4B05-91C6-625E2A067871}"/>
              </a:ext>
            </a:extLst>
          </p:cNvPr>
          <p:cNvSpPr>
            <a:spLocks noGrp="1"/>
          </p:cNvSpPr>
          <p:nvPr/>
        </p:nvSpPr>
        <p:spPr>
          <a:xfrm>
            <a:off x="6191250" y="377190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EAF3F8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58164C-6830-4DD3-B9B4-516C703B8411}"/>
              </a:ext>
            </a:extLst>
          </p:cNvPr>
          <p:cNvSpPr>
            <a:spLocks noGrp="1"/>
          </p:cNvSpPr>
          <p:nvPr/>
        </p:nvSpPr>
        <p:spPr>
          <a:xfrm>
            <a:off x="6381750" y="38671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Constraints applied</a:t>
            </a:r>
          </a:p>
        </p:txBody>
      </p:sp>
    </p:spTree>
    <p:extLst>
      <p:ext uri="{BB962C8B-B14F-4D97-AF65-F5344CB8AC3E}">
        <p14:creationId xmlns:p14="http://schemas.microsoft.com/office/powerpoint/2010/main" val="440084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0189087-73EE-4184-A606-F1AB22BED08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F75B5"/>
                </a:solidFill>
              </a:defRPr>
            </a:pPr>
            <a:r>
              <a:rPr sz="900" b="1">
                <a:solidFill>
                  <a:srgbClr val="2F75B5"/>
                </a:solidFill>
              </a:rPr>
              <a:t>VSLA ORACLE DATABASE CAPSTONE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5EC7FD-F755-48A1-B206-459F5BF248EE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Phase VI: PL/SQL Programming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1BB6A2-633A-4CBA-916C-FEDBD1076B80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668000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E15369-BD02-43E5-B86E-C6D32F73E11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33365_2025_John_VSLA_DB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29023F-9E5B-4390-B2AC-5975A2CAC5E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8483B9-076D-433B-B60E-B1F4D46B15B7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Objective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BB4969-62BC-471B-B935-165852CE199E}"/>
              </a:ext>
            </a:extLst>
          </p:cNvPr>
          <p:cNvSpPr>
            <a:spLocks noGrp="1"/>
          </p:cNvSpPr>
          <p:nvPr/>
        </p:nvSpPr>
        <p:spPr>
          <a:xfrm>
            <a:off x="704850" y="2019300"/>
            <a:ext cx="42386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Use PL/SQL to automate financial operations and calculate useful business values for the VSLA.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939443-5D5A-4455-B29B-86FB7F5E11EC}"/>
              </a:ext>
            </a:extLst>
          </p:cNvPr>
          <p:cNvSpPr>
            <a:spLocks noGrp="1"/>
          </p:cNvSpPr>
          <p:nvPr/>
        </p:nvSpPr>
        <p:spPr>
          <a:xfrm>
            <a:off x="704850" y="34290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Key Deliverables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C298A5-E6BA-4188-A226-2E01A43336D3}"/>
              </a:ext>
            </a:extLst>
          </p:cNvPr>
          <p:cNvSpPr>
            <a:spLocks noGrp="1"/>
          </p:cNvSpPr>
          <p:nvPr/>
        </p:nvSpPr>
        <p:spPr>
          <a:xfrm>
            <a:off x="704850" y="3829050"/>
            <a:ext cx="4238625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Savings balance function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Loan balance function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Contribution procedure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Repayment procedure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Finance package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9DEDC3-CC58-4F42-B6DE-C1ED1A67EC39}"/>
              </a:ext>
            </a:extLst>
          </p:cNvPr>
          <p:cNvSpPr>
            <a:spLocks noGrp="1"/>
          </p:cNvSpPr>
          <p:nvPr/>
        </p:nvSpPr>
        <p:spPr>
          <a:xfrm>
            <a:off x="5619750" y="1676400"/>
            <a:ext cx="5334000" cy="3790950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67DE80-D6C5-4BF7-9511-6A5E93C2D129}"/>
              </a:ext>
            </a:extLst>
          </p:cNvPr>
          <p:cNvSpPr>
            <a:spLocks noGrp="1"/>
          </p:cNvSpPr>
          <p:nvPr/>
        </p:nvSpPr>
        <p:spPr>
          <a:xfrm>
            <a:off x="5905500" y="19621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PL/SQL Components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F6D3CD7-5067-4366-96A3-C509518033D0}"/>
              </a:ext>
            </a:extLst>
          </p:cNvPr>
          <p:cNvSpPr>
            <a:spLocks noGrp="1"/>
          </p:cNvSpPr>
          <p:nvPr/>
        </p:nvSpPr>
        <p:spPr>
          <a:xfrm>
            <a:off x="6191250" y="259080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EAF3F8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C6DB48-5033-40C5-925B-772CB788F98A}"/>
              </a:ext>
            </a:extLst>
          </p:cNvPr>
          <p:cNvSpPr>
            <a:spLocks noGrp="1"/>
          </p:cNvSpPr>
          <p:nvPr/>
        </p:nvSpPr>
        <p:spPr>
          <a:xfrm>
            <a:off x="6381750" y="26860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Functions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AB6A4C8-1244-4F94-BD97-6FE73DC20D3B}"/>
              </a:ext>
            </a:extLst>
          </p:cNvPr>
          <p:cNvSpPr>
            <a:spLocks noGrp="1"/>
          </p:cNvSpPr>
          <p:nvPr/>
        </p:nvSpPr>
        <p:spPr>
          <a:xfrm>
            <a:off x="6191250" y="318135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F7FBFF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89E13C-D423-43EF-922C-591F2FBADE03}"/>
              </a:ext>
            </a:extLst>
          </p:cNvPr>
          <p:cNvSpPr>
            <a:spLocks noGrp="1"/>
          </p:cNvSpPr>
          <p:nvPr/>
        </p:nvSpPr>
        <p:spPr>
          <a:xfrm>
            <a:off x="6381750" y="327660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Procedures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EBFB3F0-3779-4E52-9EC5-D4FFFDCBD112}"/>
              </a:ext>
            </a:extLst>
          </p:cNvPr>
          <p:cNvSpPr>
            <a:spLocks noGrp="1"/>
          </p:cNvSpPr>
          <p:nvPr/>
        </p:nvSpPr>
        <p:spPr>
          <a:xfrm>
            <a:off x="6191250" y="377190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EAF3F8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FD4101-B162-418F-A647-0494AFA11A19}"/>
              </a:ext>
            </a:extLst>
          </p:cNvPr>
          <p:cNvSpPr>
            <a:spLocks noGrp="1"/>
          </p:cNvSpPr>
          <p:nvPr/>
        </p:nvSpPr>
        <p:spPr>
          <a:xfrm>
            <a:off x="6381750" y="38671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Package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615F7EA-A81F-49FA-ADED-AA56D745DBA5}"/>
              </a:ext>
            </a:extLst>
          </p:cNvPr>
          <p:cNvSpPr>
            <a:spLocks noGrp="1"/>
          </p:cNvSpPr>
          <p:nvPr/>
        </p:nvSpPr>
        <p:spPr>
          <a:xfrm>
            <a:off x="6191250" y="436245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F7FBFF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61D9B3-3CE5-4420-B67A-C6781BAD0031}"/>
              </a:ext>
            </a:extLst>
          </p:cNvPr>
          <p:cNvSpPr>
            <a:spLocks noGrp="1"/>
          </p:cNvSpPr>
          <p:nvPr/>
        </p:nvSpPr>
        <p:spPr>
          <a:xfrm>
            <a:off x="6381750" y="445770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Exception handling</a:t>
            </a:r>
          </a:p>
        </p:txBody>
      </p:sp>
    </p:spTree>
    <p:extLst>
      <p:ext uri="{BB962C8B-B14F-4D97-AF65-F5344CB8AC3E}">
        <p14:creationId xmlns:p14="http://schemas.microsoft.com/office/powerpoint/2010/main" val="661403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E89340C-781A-4AF1-9F49-1DCAE506A3B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F75B5"/>
                </a:solidFill>
              </a:defRPr>
            </a:pPr>
            <a:r>
              <a:rPr sz="900" b="1">
                <a:solidFill>
                  <a:srgbClr val="2F75B5"/>
                </a:solidFill>
              </a:rPr>
              <a:t>VSLA ORACLE DATABASE CAPSTONE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2957FD-D48A-4E86-8982-A1E922F8EA56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Phase VII: Advanced Database Programming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B345F9-E76E-4853-BD8A-8ED7D0EE8A85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668000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EDA778-200F-4739-B59F-0AC5FFDB95B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33365_2025_John_VSLA_DB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B3EC2E-4D62-4225-BDD6-412E42013C98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01FA6-80FA-4B6E-93A3-8354640FE9ED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Objective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3D42BC-04C7-47B1-88A7-BDCAA80682D4}"/>
              </a:ext>
            </a:extLst>
          </p:cNvPr>
          <p:cNvSpPr>
            <a:spLocks noGrp="1"/>
          </p:cNvSpPr>
          <p:nvPr/>
        </p:nvSpPr>
        <p:spPr>
          <a:xfrm>
            <a:off x="704850" y="2019300"/>
            <a:ext cx="42386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Strengthen the system through triggers, audit logging, security restrictions, and reporting support.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2BD442-5EAA-4094-BCF6-7D23BF581381}"/>
              </a:ext>
            </a:extLst>
          </p:cNvPr>
          <p:cNvSpPr>
            <a:spLocks noGrp="1"/>
          </p:cNvSpPr>
          <p:nvPr/>
        </p:nvSpPr>
        <p:spPr>
          <a:xfrm>
            <a:off x="704850" y="34290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Key Deliverables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1A04F3-742B-4E70-9F06-8A8D935C01BB}"/>
              </a:ext>
            </a:extLst>
          </p:cNvPr>
          <p:cNvSpPr>
            <a:spLocks noGrp="1"/>
          </p:cNvSpPr>
          <p:nvPr/>
        </p:nvSpPr>
        <p:spPr>
          <a:xfrm>
            <a:off x="704850" y="3829050"/>
            <a:ext cx="4238625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Audit triggers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Loan status trigger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Public holiday reference table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DML restriction demo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Reports and views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1A9A39C-2C9A-404F-989F-B663E718BDA0}"/>
              </a:ext>
            </a:extLst>
          </p:cNvPr>
          <p:cNvSpPr>
            <a:spLocks noGrp="1"/>
          </p:cNvSpPr>
          <p:nvPr/>
        </p:nvSpPr>
        <p:spPr>
          <a:xfrm>
            <a:off x="5619750" y="1676400"/>
            <a:ext cx="5334000" cy="3790950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BF2572-9F8C-4A3A-8A53-A94CA85F1C55}"/>
              </a:ext>
            </a:extLst>
          </p:cNvPr>
          <p:cNvSpPr>
            <a:spLocks noGrp="1"/>
          </p:cNvSpPr>
          <p:nvPr/>
        </p:nvSpPr>
        <p:spPr>
          <a:xfrm>
            <a:off x="5905500" y="19621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Controls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D48DF07-994D-41A7-8083-C62D4445C5D1}"/>
              </a:ext>
            </a:extLst>
          </p:cNvPr>
          <p:cNvSpPr>
            <a:spLocks noGrp="1"/>
          </p:cNvSpPr>
          <p:nvPr/>
        </p:nvSpPr>
        <p:spPr>
          <a:xfrm>
            <a:off x="6191250" y="259080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EAF3F8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4BF7D9-5071-4E50-9EA5-901AA9FF025A}"/>
              </a:ext>
            </a:extLst>
          </p:cNvPr>
          <p:cNvSpPr>
            <a:spLocks noGrp="1"/>
          </p:cNvSpPr>
          <p:nvPr/>
        </p:nvSpPr>
        <p:spPr>
          <a:xfrm>
            <a:off x="6381750" y="26860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Audit Log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4D52488-50A3-447E-8ACF-9D5FD22B216F}"/>
              </a:ext>
            </a:extLst>
          </p:cNvPr>
          <p:cNvSpPr>
            <a:spLocks noGrp="1"/>
          </p:cNvSpPr>
          <p:nvPr/>
        </p:nvSpPr>
        <p:spPr>
          <a:xfrm>
            <a:off x="6191250" y="318135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F7FBFF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FF6D72-FE39-4C03-884D-B1ADF60839F2}"/>
              </a:ext>
            </a:extLst>
          </p:cNvPr>
          <p:cNvSpPr>
            <a:spLocks noGrp="1"/>
          </p:cNvSpPr>
          <p:nvPr/>
        </p:nvSpPr>
        <p:spPr>
          <a:xfrm>
            <a:off x="6381750" y="327660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Security Rules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D0291FA-3AE4-4466-8895-899B7BA44903}"/>
              </a:ext>
            </a:extLst>
          </p:cNvPr>
          <p:cNvSpPr>
            <a:spLocks noGrp="1"/>
          </p:cNvSpPr>
          <p:nvPr/>
        </p:nvSpPr>
        <p:spPr>
          <a:xfrm>
            <a:off x="6191250" y="377190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EAF3F8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A1572A-FCE9-4354-ABF1-3E76D3B85361}"/>
              </a:ext>
            </a:extLst>
          </p:cNvPr>
          <p:cNvSpPr>
            <a:spLocks noGrp="1"/>
          </p:cNvSpPr>
          <p:nvPr/>
        </p:nvSpPr>
        <p:spPr>
          <a:xfrm>
            <a:off x="6381750" y="38671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Reports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4214510-F169-4825-ABB7-968889B32434}"/>
              </a:ext>
            </a:extLst>
          </p:cNvPr>
          <p:cNvSpPr>
            <a:spLocks noGrp="1"/>
          </p:cNvSpPr>
          <p:nvPr/>
        </p:nvSpPr>
        <p:spPr>
          <a:xfrm>
            <a:off x="6191250" y="436245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F7FBFF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0786D7-E735-43FE-93D4-5E1AC27803CF}"/>
              </a:ext>
            </a:extLst>
          </p:cNvPr>
          <p:cNvSpPr>
            <a:spLocks noGrp="1"/>
          </p:cNvSpPr>
          <p:nvPr/>
        </p:nvSpPr>
        <p:spPr>
          <a:xfrm>
            <a:off x="6381750" y="445770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Verification</a:t>
            </a:r>
          </a:p>
        </p:txBody>
      </p:sp>
    </p:spTree>
    <p:extLst>
      <p:ext uri="{BB962C8B-B14F-4D97-AF65-F5344CB8AC3E}">
        <p14:creationId xmlns:p14="http://schemas.microsoft.com/office/powerpoint/2010/main" val="567054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9EBD84-D874-4800-A0BC-0093316C9D1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F75B5"/>
                </a:solidFill>
              </a:defRPr>
            </a:pPr>
            <a:r>
              <a:rPr sz="900" b="1">
                <a:solidFill>
                  <a:srgbClr val="2F75B5"/>
                </a:solidFill>
              </a:rPr>
              <a:t>VSLA ORACLE DATABASE CAPSTONE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DBB1DD-CF1C-4A57-8B26-DC1B2D0C04B4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Phase VIII: Documentation and Presentation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329925-2ECD-4556-8ECB-37ADC8A84F2F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668000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7AFF10-6D69-43EB-8869-A5C255C845A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33365_2025_John_VSLA_DB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10D767-629C-4CC6-9E67-327EEF88A4B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C9E57-B049-45A6-B625-B947B23FC7C2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Objective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C95D75-7623-40FC-AD6D-2FD21FEE008E}"/>
              </a:ext>
            </a:extLst>
          </p:cNvPr>
          <p:cNvSpPr>
            <a:spLocks noGrp="1"/>
          </p:cNvSpPr>
          <p:nvPr/>
        </p:nvSpPr>
        <p:spPr>
          <a:xfrm>
            <a:off x="704850" y="2019300"/>
            <a:ext cx="42386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Package the project so it can be reviewed, demonstrated, and submitted through GitHub.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1827DF-0AF2-4456-909D-8664E2CE127E}"/>
              </a:ext>
            </a:extLst>
          </p:cNvPr>
          <p:cNvSpPr>
            <a:spLocks noGrp="1"/>
          </p:cNvSpPr>
          <p:nvPr/>
        </p:nvSpPr>
        <p:spPr>
          <a:xfrm>
            <a:off x="704850" y="34290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Key Deliverables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63C020-2B05-4554-8687-00F59FC49910}"/>
              </a:ext>
            </a:extLst>
          </p:cNvPr>
          <p:cNvSpPr>
            <a:spLocks noGrp="1"/>
          </p:cNvSpPr>
          <p:nvPr/>
        </p:nvSpPr>
        <p:spPr>
          <a:xfrm>
            <a:off x="704850" y="3829050"/>
            <a:ext cx="4238625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README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Phase documents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Screenshots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Diagrams</a:t>
            </a:r>
          </a:p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- Presentation deck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27F5AA-AEE7-47D3-B085-33D065DC7F31}"/>
              </a:ext>
            </a:extLst>
          </p:cNvPr>
          <p:cNvSpPr>
            <a:spLocks noGrp="1"/>
          </p:cNvSpPr>
          <p:nvPr/>
        </p:nvSpPr>
        <p:spPr>
          <a:xfrm>
            <a:off x="5619750" y="1676400"/>
            <a:ext cx="5334000" cy="3790950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3AD57E-9915-4917-B9D9-4C399AAB11B6}"/>
              </a:ext>
            </a:extLst>
          </p:cNvPr>
          <p:cNvSpPr>
            <a:spLocks noGrp="1"/>
          </p:cNvSpPr>
          <p:nvPr/>
        </p:nvSpPr>
        <p:spPr>
          <a:xfrm>
            <a:off x="5905500" y="19621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Submission Package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A0468F5-4F70-4119-BC18-E9120EE08F86}"/>
              </a:ext>
            </a:extLst>
          </p:cNvPr>
          <p:cNvSpPr>
            <a:spLocks noGrp="1"/>
          </p:cNvSpPr>
          <p:nvPr/>
        </p:nvSpPr>
        <p:spPr>
          <a:xfrm>
            <a:off x="6191250" y="259080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EAF3F8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3F96B9-5662-480B-BB7A-3FFA31669497}"/>
              </a:ext>
            </a:extLst>
          </p:cNvPr>
          <p:cNvSpPr>
            <a:spLocks noGrp="1"/>
          </p:cNvSpPr>
          <p:nvPr/>
        </p:nvSpPr>
        <p:spPr>
          <a:xfrm>
            <a:off x="6381750" y="26860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Docs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BA227AF-B25D-4C42-AD4D-40F93A7A1966}"/>
              </a:ext>
            </a:extLst>
          </p:cNvPr>
          <p:cNvSpPr>
            <a:spLocks noGrp="1"/>
          </p:cNvSpPr>
          <p:nvPr/>
        </p:nvSpPr>
        <p:spPr>
          <a:xfrm>
            <a:off x="6191250" y="318135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F7FBFF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6B3690-6EBE-4DAA-ABB4-699A7F869DC1}"/>
              </a:ext>
            </a:extLst>
          </p:cNvPr>
          <p:cNvSpPr>
            <a:spLocks noGrp="1"/>
          </p:cNvSpPr>
          <p:nvPr/>
        </p:nvSpPr>
        <p:spPr>
          <a:xfrm>
            <a:off x="6381750" y="327660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Diagrams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B5C9BC1-FAAA-4749-A151-9864F82D5C7E}"/>
              </a:ext>
            </a:extLst>
          </p:cNvPr>
          <p:cNvSpPr>
            <a:spLocks noGrp="1"/>
          </p:cNvSpPr>
          <p:nvPr/>
        </p:nvSpPr>
        <p:spPr>
          <a:xfrm>
            <a:off x="6191250" y="377190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EAF3F8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DEA129-C073-4D44-807A-39B2DED85A18}"/>
              </a:ext>
            </a:extLst>
          </p:cNvPr>
          <p:cNvSpPr>
            <a:spLocks noGrp="1"/>
          </p:cNvSpPr>
          <p:nvPr/>
        </p:nvSpPr>
        <p:spPr>
          <a:xfrm>
            <a:off x="6381750" y="38671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SQL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FDCC813-1975-4F47-A435-95E1DFABE5F3}"/>
              </a:ext>
            </a:extLst>
          </p:cNvPr>
          <p:cNvSpPr>
            <a:spLocks noGrp="1"/>
          </p:cNvSpPr>
          <p:nvPr/>
        </p:nvSpPr>
        <p:spPr>
          <a:xfrm>
            <a:off x="6191250" y="4362450"/>
            <a:ext cx="4191000" cy="400050"/>
          </a:xfrm>
          <a:prstGeom prst="roundRect">
            <a:avLst>
              <a:gd name="adj" fmla="val 14286"/>
            </a:avLst>
          </a:prstGeom>
          <a:solidFill>
            <a:srgbClr val="F7FBFF"/>
          </a:solidFill>
          <a:ln w="9525">
            <a:solidFill>
              <a:srgbClr val="B6CAD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AFE2FF-9ACF-4CBC-9BDA-FEF6A5E5BBC8}"/>
              </a:ext>
            </a:extLst>
          </p:cNvPr>
          <p:cNvSpPr>
            <a:spLocks noGrp="1"/>
          </p:cNvSpPr>
          <p:nvPr/>
        </p:nvSpPr>
        <p:spPr>
          <a:xfrm>
            <a:off x="6381750" y="445770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Screenshots</a:t>
            </a:r>
          </a:p>
        </p:txBody>
      </p:sp>
    </p:spTree>
    <p:extLst>
      <p:ext uri="{BB962C8B-B14F-4D97-AF65-F5344CB8AC3E}">
        <p14:creationId xmlns:p14="http://schemas.microsoft.com/office/powerpoint/2010/main" val="1520491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B9AEA9A-E21A-40F0-AC99-F5B73B5FDB0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F75B5"/>
                </a:solidFill>
              </a:defRPr>
            </a:pPr>
            <a:r>
              <a:rPr sz="900" b="1">
                <a:solidFill>
                  <a:srgbClr val="2F75B5"/>
                </a:solidFill>
              </a:rPr>
              <a:t>VSLA ORACLE DATABASE CAPSTONE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8AF7ED-306B-4C97-B27F-6ED886E5A354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Visual Evidence Anchors the Documentation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5953FF-7A6E-4471-9CD3-9679E575DE4F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668000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1DE3CE-1FF6-4D6A-9F29-4A09ED6A13B4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33365_2025_John_VSLA_DB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C9C221-819A-498C-AF00-88A7F4AC4CA1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AF9488-BD0B-457C-93D2-1B15ED5576F1}"/>
              </a:ext>
            </a:extLst>
          </p:cNvPr>
          <p:cNvSpPr>
            <a:spLocks noGrp="1"/>
          </p:cNvSpPr>
          <p:nvPr/>
        </p:nvSpPr>
        <p:spPr>
          <a:xfrm>
            <a:off x="781050" y="1600200"/>
            <a:ext cx="1009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The final repository should include exported diagram images so the lecturer can quickly verify the modeling phases.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F190C8-17CC-4DDD-AF3C-F8F195A4F46C}"/>
              </a:ext>
            </a:extLst>
          </p:cNvPr>
          <p:cNvSpPr>
            <a:spLocks noGrp="1"/>
          </p:cNvSpPr>
          <p:nvPr/>
        </p:nvSpPr>
        <p:spPr>
          <a:xfrm>
            <a:off x="1000125" y="2362200"/>
            <a:ext cx="95250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46C375-AE14-49A9-A119-5996F02456D6}"/>
              </a:ext>
            </a:extLst>
          </p:cNvPr>
          <p:cNvSpPr>
            <a:spLocks noGrp="1"/>
          </p:cNvSpPr>
          <p:nvPr/>
        </p:nvSpPr>
        <p:spPr>
          <a:xfrm>
            <a:off x="1333500" y="3028950"/>
            <a:ext cx="885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17365D"/>
                </a:solidFill>
              </a:defRPr>
            </a:pPr>
            <a:r>
              <a:rPr sz="2550" b="1">
                <a:solidFill>
                  <a:srgbClr val="17365D"/>
                </a:solidFill>
              </a:rPr>
              <a:t>Place BPMN and ERD images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3CD331-26FA-4C9F-A1C3-FEBE7860F858}"/>
              </a:ext>
            </a:extLst>
          </p:cNvPr>
          <p:cNvSpPr>
            <a:spLocks noGrp="1"/>
          </p:cNvSpPr>
          <p:nvPr/>
        </p:nvSpPr>
        <p:spPr>
          <a:xfrm>
            <a:off x="1619250" y="3714750"/>
            <a:ext cx="8286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Use VSLA_BPMN_Swimlane.png and VSLA_ER_Diagram.png from the diagrams folder.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23B588-35A7-48F1-9FAA-237994702862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33365_2025_John_VSLA_DB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28A28F-1661-4AF2-84E0-91BD203A0A58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7470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B50D72C-DB40-4199-B657-8A68F8B5773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F75B5"/>
                </a:solidFill>
              </a:defRPr>
            </a:pPr>
            <a:r>
              <a:rPr sz="900" b="1">
                <a:solidFill>
                  <a:srgbClr val="2F75B5"/>
                </a:solidFill>
              </a:rPr>
              <a:t>VSLA ORACLE DATABASE CAPSTONE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B4B563-0FA9-4155-BDA9-3D2ABC9312D4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GitHub organizes the project for marking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E2DF66-533C-4338-BDA4-D3BD6A78AA16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668000" cy="19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81893B-23CD-4A50-8A73-623E37186F0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33365_2025_John_VSLA_DB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E86D7C-A874-41D8-B634-B52973E7E436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A5E082-58B6-4C7E-83D4-7F8301756E9A}"/>
              </a:ext>
            </a:extLst>
          </p:cNvPr>
          <p:cNvSpPr>
            <a:spLocks noGrp="1"/>
          </p:cNvSpPr>
          <p:nvPr/>
        </p:nvSpPr>
        <p:spPr>
          <a:xfrm>
            <a:off x="800100" y="16668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Repository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733724-2098-4A6D-9527-4FF3DB001B86}"/>
              </a:ext>
            </a:extLst>
          </p:cNvPr>
          <p:cNvSpPr>
            <a:spLocks noGrp="1"/>
          </p:cNvSpPr>
          <p:nvPr/>
        </p:nvSpPr>
        <p:spPr>
          <a:xfrm>
            <a:off x="800100" y="20383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C00000"/>
                </a:solidFill>
              </a:defRPr>
            </a:pPr>
            <a:r>
              <a:rPr sz="1800" b="1">
                <a:solidFill>
                  <a:srgbClr val="C00000"/>
                </a:solidFill>
              </a:rPr>
              <a:t>33365_2025_John_VSLA_DB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56595A-B207-4D41-86AC-2049ECAB9EC1}"/>
              </a:ext>
            </a:extLst>
          </p:cNvPr>
          <p:cNvSpPr>
            <a:spLocks noGrp="1"/>
          </p:cNvSpPr>
          <p:nvPr/>
        </p:nvSpPr>
        <p:spPr>
          <a:xfrm>
            <a:off x="800100" y="2895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What the repository contains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EBE80A-E4EA-439D-AC35-A542791DD8E9}"/>
              </a:ext>
            </a:extLst>
          </p:cNvPr>
          <p:cNvSpPr>
            <a:spLocks noGrp="1"/>
          </p:cNvSpPr>
          <p:nvPr/>
        </p:nvSpPr>
        <p:spPr>
          <a:xfrm>
            <a:off x="800100" y="3295650"/>
            <a:ext cx="4286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- Phase documents</a:t>
            </a:r>
          </a:p>
          <a:p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- SQL and PL/SQL scripts</a:t>
            </a:r>
          </a:p>
          <a:p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- BPMN and ER diagrams</a:t>
            </a:r>
          </a:p>
          <a:p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- Screenshots and verification evidence</a:t>
            </a:r>
          </a:p>
          <a:p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- README with setup guide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1B9C7F-732C-41DC-A36F-67BC2FB6F9C4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4286250" cy="352425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5D3B21-B568-4107-BDE1-E6962DC483F3}"/>
              </a:ext>
            </a:extLst>
          </p:cNvPr>
          <p:cNvSpPr>
            <a:spLocks noGrp="1"/>
          </p:cNvSpPr>
          <p:nvPr/>
        </p:nvSpPr>
        <p:spPr>
          <a:xfrm>
            <a:off x="6572250" y="1952625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Suggested Folder Structure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036646-DBC0-474D-8C80-BA9FB163D04C}"/>
              </a:ext>
            </a:extLst>
          </p:cNvPr>
          <p:cNvSpPr>
            <a:spLocks noGrp="1"/>
          </p:cNvSpPr>
          <p:nvPr/>
        </p:nvSpPr>
        <p:spPr>
          <a:xfrm>
            <a:off x="7000875" y="2476500"/>
            <a:ext cx="2857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README.md</a:t>
            </a:r>
          </a:p>
          <a:p>
            <a:endParaRPr sz="1800" b="0">
              <a:solidFill>
                <a:srgbClr val="1F2937"/>
              </a:solidFill>
            </a:endParaRPr>
          </a:p>
          <a:p>
            <a:pPr algn="ctr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docs/</a:t>
            </a:r>
          </a:p>
          <a:p>
            <a:pPr algn="ctr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diagrams/</a:t>
            </a:r>
          </a:p>
          <a:p>
            <a:pPr algn="ctr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screenshots/</a:t>
            </a:r>
          </a:p>
          <a:p>
            <a:pPr algn="ctr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sql/</a:t>
            </a:r>
          </a:p>
          <a:p>
            <a:pPr algn="ctr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presentation/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B95675-04B3-4828-8454-8FACFB13EA6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33365_2025_John_VSLA_DB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E748E-E9D5-42C7-8646-1C8D64FFDB0D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50951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149C8FE-5C57-457F-B427-7EABFD738EF6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The VSLA system is ready for demonstration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88AADB-CACC-42F6-86F8-5DA49F86AA5E}"/>
              </a:ext>
            </a:extLst>
          </p:cNvPr>
          <p:cNvSpPr>
            <a:spLocks noGrp="1"/>
          </p:cNvSpPr>
          <p:nvPr/>
        </p:nvSpPr>
        <p:spPr>
          <a:xfrm>
            <a:off x="857250" y="1733550"/>
            <a:ext cx="933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DDEBF7"/>
                </a:solidFill>
              </a:defRPr>
            </a:pPr>
            <a:r>
              <a:rPr sz="1800" b="0">
                <a:solidFill>
                  <a:srgbClr val="DDEBF7"/>
                </a:solidFill>
              </a:rPr>
              <a:t>The project shows a complete Oracle Database workflow from problem analysis to implementation, auditing, reporting, and documentation.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5E26D20-7D45-4F8B-BC02-1F4884509278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30480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430A620-66C5-4C69-B1CD-9B323A450DEF}"/>
              </a:ext>
            </a:extLst>
          </p:cNvPr>
          <p:cNvSpPr>
            <a:spLocks noGrp="1"/>
          </p:cNvSpPr>
          <p:nvPr/>
        </p:nvSpPr>
        <p:spPr>
          <a:xfrm>
            <a:off x="4572000" y="2952750"/>
            <a:ext cx="30480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2F64ED-A976-4BA2-9BB4-E57B0AEFE91B}"/>
              </a:ext>
            </a:extLst>
          </p:cNvPr>
          <p:cNvSpPr>
            <a:spLocks noGrp="1"/>
          </p:cNvSpPr>
          <p:nvPr/>
        </p:nvSpPr>
        <p:spPr>
          <a:xfrm>
            <a:off x="8191500" y="2952750"/>
            <a:ext cx="30480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70F3ED-C4EA-4644-BFC9-929E9A2A8339}"/>
              </a:ext>
            </a:extLst>
          </p:cNvPr>
          <p:cNvSpPr>
            <a:spLocks noGrp="1"/>
          </p:cNvSpPr>
          <p:nvPr/>
        </p:nvSpPr>
        <p:spPr>
          <a:xfrm>
            <a:off x="1143000" y="32194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Technical Design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42DA7C-B98A-44B9-9C1D-F00989469565}"/>
              </a:ext>
            </a:extLst>
          </p:cNvPr>
          <p:cNvSpPr>
            <a:spLocks noGrp="1"/>
          </p:cNvSpPr>
          <p:nvPr/>
        </p:nvSpPr>
        <p:spPr>
          <a:xfrm>
            <a:off x="1219200" y="3752850"/>
            <a:ext cx="2514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ERD, normalized schema, keys, and constraints.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819BDF-5F27-4759-8656-D1662851C3A4}"/>
              </a:ext>
            </a:extLst>
          </p:cNvPr>
          <p:cNvSpPr>
            <a:spLocks noGrp="1"/>
          </p:cNvSpPr>
          <p:nvPr/>
        </p:nvSpPr>
        <p:spPr>
          <a:xfrm>
            <a:off x="4762500" y="32194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Oracle Implementation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FA3B7A-C217-4467-BCCA-ABF013C85AC8}"/>
              </a:ext>
            </a:extLst>
          </p:cNvPr>
          <p:cNvSpPr>
            <a:spLocks noGrp="1"/>
          </p:cNvSpPr>
          <p:nvPr/>
        </p:nvSpPr>
        <p:spPr>
          <a:xfrm>
            <a:off x="4838700" y="3752850"/>
            <a:ext cx="2514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Tables, data, PL/SQL, triggers, audit logs, and reports.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0F0E1C-5766-46E1-8611-2E840925BB89}"/>
              </a:ext>
            </a:extLst>
          </p:cNvPr>
          <p:cNvSpPr>
            <a:spLocks noGrp="1"/>
          </p:cNvSpPr>
          <p:nvPr/>
        </p:nvSpPr>
        <p:spPr>
          <a:xfrm>
            <a:off x="8382000" y="32194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Submission Package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2D8FFB-97DF-4A15-A424-D4CB16A21D21}"/>
              </a:ext>
            </a:extLst>
          </p:cNvPr>
          <p:cNvSpPr>
            <a:spLocks noGrp="1"/>
          </p:cNvSpPr>
          <p:nvPr/>
        </p:nvSpPr>
        <p:spPr>
          <a:xfrm>
            <a:off x="8458200" y="3752850"/>
            <a:ext cx="2514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GitHub documentation, diagrams, screenshots, and presentation.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512FF3-593A-45ED-9425-7D632909A7C3}"/>
              </a:ext>
            </a:extLst>
          </p:cNvPr>
          <p:cNvSpPr>
            <a:spLocks noGrp="1"/>
          </p:cNvSpPr>
          <p:nvPr/>
        </p:nvSpPr>
        <p:spPr>
          <a:xfrm>
            <a:off x="857250" y="58102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89D606-61B6-46CC-A905-2F65608C3102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DDEBF7"/>
                </a:solidFill>
              </a:defRPr>
            </a:pPr>
            <a:r>
              <a:rPr sz="900" b="0">
                <a:solidFill>
                  <a:srgbClr val="DDEBF7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921982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782</Words>
  <Application>Microsoft Office PowerPoint</Application>
  <DocSecurity>0</DocSecurity>
  <PresentationFormat>Widescreen</PresentationFormat>
  <Paragraphs>180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John Bondo</cp:lastModifiedBy>
  <cp:revision>7</cp:revision>
  <dcterms:created xsi:type="dcterms:W3CDTF">2026-07-29T14:23:12Z</dcterms:created>
  <dcterms:modified xsi:type="dcterms:W3CDTF">2026-07-30T06:41:04Z</dcterms:modified>
</cp:coreProperties>
</file>